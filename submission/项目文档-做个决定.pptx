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4" r:id="rId10"/>
    <p:sldId id="263" r:id="rId11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/>
      <p:sp>
        <p:nvSpPr>
          <p:cNvPr id="2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pic>
        <p:nvPicPr>
          <p:cNvPr id="9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10" y="304165"/>
            <a:ext cx="3564890" cy="1234440"/>
          </a:xfrm>
          <a:prstGeom prst="rect">
            <a:avLst/>
          </a:prstGeom>
        </p:spPr>
      </p:pic>
      <p:sp>
        <p:nvSpPr>
          <p:cNvPr id="5" name="文本框 14"/>
          <p:cNvSpPr>
            <a:spLocks noGrp="1"/>
          </p:cNvSpPr>
          <p:nvPr/>
        </p:nvSpPr>
        <p:spPr>
          <a:xfrm>
            <a:off x="9906635" y="6367145"/>
            <a:ext cx="2199640" cy="34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>
              <a:lnSpc>
                <a:spcPct val="130000"/>
              </a:lnSpc>
              <a:buNone/>
            </a:pPr>
            <a:r>
              <a:rPr sz="1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智能终端操作系统根社区</a:t>
            </a:r>
            <a:endParaRPr sz="1400" kern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直接连接符 15"/>
          <p:cNvSpPr>
            <a:spLocks noGrp="1"/>
          </p:cNvSpPr>
          <p:nvPr/>
        </p:nvSpPr>
        <p:spPr>
          <a:xfrm>
            <a:off x="11434445" y="6685280"/>
            <a:ext cx="53784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F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5" name="图片 1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rcRect b="13216"/>
          <a:stretch>
            <a:fillRect/>
          </a:stretch>
        </p:blipFill>
        <p:spPr>
          <a:xfrm>
            <a:off x="7546126" y="0"/>
            <a:ext cx="4151671" cy="5794408"/>
          </a:xfrm>
          <a:prstGeom prst="rect">
            <a:avLst/>
          </a:prstGeom>
        </p:spPr>
      </p:pic>
      <p:sp>
        <p:nvSpPr>
          <p:cNvPr id="10" name="文本框 3"/>
          <p:cNvSpPr>
            <a:spLocks noGrp="1"/>
          </p:cNvSpPr>
          <p:nvPr/>
        </p:nvSpPr>
        <p:spPr>
          <a:xfrm>
            <a:off x="9763201" y="6305810"/>
            <a:ext cx="2199640" cy="34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智能终端操作系统根社区</a:t>
            </a:r>
            <a:endParaRPr sz="1400" kern="12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直接连接符 15"/>
          <p:cNvSpPr>
            <a:spLocks noGrp="1"/>
          </p:cNvSpPr>
          <p:nvPr/>
        </p:nvSpPr>
        <p:spPr>
          <a:xfrm>
            <a:off x="11291011" y="6623945"/>
            <a:ext cx="537845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pic>
        <p:nvPicPr>
          <p:cNvPr id="18" name="图片 9"/>
          <p:cNvPicPr>
            <a:picLocks noChangeAspect="1"/>
          </p:cNvPicPr>
          <p:nvPr/>
        </p:nvPicPr>
        <p:blipFill>
          <a:blip r:embed="rId3">
            <a:alphaModFix amt="21000"/>
          </a:blip>
          <a:srcRect/>
          <a:stretch>
            <a:fillRect/>
          </a:stretch>
        </p:blipFill>
        <p:spPr>
          <a:xfrm>
            <a:off x="0" y="3261146"/>
            <a:ext cx="2999678" cy="4133416"/>
          </a:xfrm>
          <a:prstGeom prst="rect">
            <a:avLst/>
          </a:prstGeom>
        </p:spPr>
      </p:pic>
      <p:pic>
        <p:nvPicPr>
          <p:cNvPr id="19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73" y="0"/>
            <a:ext cx="3483086" cy="13061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1_标题幻灯片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灯片编号占位符 5"/>
          <p:cNvSpPr>
            <a:spLocks noGrp="1"/>
          </p:cNvSpPr>
          <p:nvPr>
            <p:ph type="sldNum" idx="12"/>
          </p:nvPr>
        </p:nvSpPr>
        <p:spPr>
          <a:xfrm>
            <a:off x="445008" y="6356350"/>
            <a:ext cx="2743200" cy="365125"/>
          </a:xfrm>
        </p:spPr>
        <p:txBody>
          <a:bodyPr/>
          <a:lstStyle>
            <a:lvl1pPr algn="l">
              <a:buNone/>
              <a:defRPr>
                <a:solidFill>
                  <a:schemeClr val="tx1"/>
                </a:solidFill>
              </a:defRPr>
            </a:lvl1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bg>
      <p:bgPr>
        <a:solidFill>
          <a:srgbClr val="08A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灯片编号占位符 5"/>
          <p:cNvSpPr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文本框 14"/>
          <p:cNvSpPr>
            <a:spLocks noGrp="1"/>
          </p:cNvSpPr>
          <p:nvPr/>
        </p:nvSpPr>
        <p:spPr>
          <a:xfrm>
            <a:off x="9763201" y="6305810"/>
            <a:ext cx="2199640" cy="34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智能终端操作系统根社区</a:t>
            </a:r>
            <a:endParaRPr sz="1400" kern="12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直接连接符 15"/>
          <p:cNvSpPr>
            <a:spLocks noGrp="1"/>
          </p:cNvSpPr>
          <p:nvPr/>
        </p:nvSpPr>
        <p:spPr>
          <a:xfrm>
            <a:off x="11291011" y="6623945"/>
            <a:ext cx="537845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7" name="灯片编号占位符 5"/>
          <p:cNvSpPr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28" name="文本占位符 9"/>
          <p:cNvSpPr>
            <a:spLocks noGrp="1"/>
          </p:cNvSpPr>
          <p:nvPr>
            <p:ph type="body" idx="13" hasCustomPrompt="1"/>
          </p:nvPr>
        </p:nvSpPr>
        <p:spPr>
          <a:xfrm>
            <a:off x="215067" y="171415"/>
            <a:ext cx="5966068" cy="4461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>
              <a:buNone/>
            </a:pPr>
            <a:r>
              <a:t>单击此处编辑母版文本</a:t>
            </a:r>
          </a:p>
        </p:txBody>
      </p:sp>
      <p:pic>
        <p:nvPicPr>
          <p:cNvPr id="36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425" y="0"/>
            <a:ext cx="2350420" cy="881407"/>
          </a:xfrm>
          <a:prstGeom prst="rect">
            <a:avLst/>
          </a:prstGeom>
        </p:spPr>
      </p:pic>
      <p:sp>
        <p:nvSpPr>
          <p:cNvPr id="30" name="矩形 3"/>
          <p:cNvSpPr>
            <a:spLocks noGrp="1"/>
          </p:cNvSpPr>
          <p:nvPr/>
        </p:nvSpPr>
        <p:spPr>
          <a:xfrm>
            <a:off x="0" y="0"/>
            <a:ext cx="12192000" cy="781177"/>
          </a:xfrm>
          <a:prstGeom prst="rect">
            <a:avLst/>
          </a:prstGeom>
          <a:solidFill>
            <a:srgbClr val="08A8F6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/>
        </p:txBody>
      </p:sp>
      <p:pic>
        <p:nvPicPr>
          <p:cNvPr id="40" name="图片 3"/>
          <p:cNvPicPr>
            <a:picLocks noChangeAspect="1"/>
          </p:cNvPicPr>
          <p:nvPr/>
        </p:nvPicPr>
        <p:blipFill rotWithShape="1">
          <a:blip r:embed="rId2">
            <a:alphaModFix amt="35000"/>
            <a:biLevel thresh="25000"/>
          </a:blip>
          <a:srcRect t="32381"/>
          <a:stretch>
            <a:fillRect/>
          </a:stretch>
        </p:blipFill>
        <p:spPr>
          <a:xfrm>
            <a:off x="7482780" y="1381934"/>
            <a:ext cx="3830533" cy="4165580"/>
          </a:xfrm>
          <a:prstGeom prst="rect">
            <a:avLst/>
          </a:prstGeom>
        </p:spPr>
      </p:pic>
      <p:sp>
        <p:nvSpPr>
          <p:cNvPr id="35" name="文本框 10"/>
          <p:cNvSpPr>
            <a:spLocks noGrp="1"/>
          </p:cNvSpPr>
          <p:nvPr/>
        </p:nvSpPr>
        <p:spPr>
          <a:xfrm>
            <a:off x="9763201" y="6305810"/>
            <a:ext cx="2199640" cy="34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智能终端操作系统根社区</a:t>
            </a:r>
            <a:endParaRPr sz="1400" kern="12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直接连接符 15"/>
          <p:cNvSpPr>
            <a:spLocks noGrp="1"/>
          </p:cNvSpPr>
          <p:nvPr/>
        </p:nvSpPr>
        <p:spPr>
          <a:xfrm>
            <a:off x="11291011" y="6623945"/>
            <a:ext cx="537845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pic>
        <p:nvPicPr>
          <p:cNvPr id="43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78" y="0"/>
            <a:ext cx="2350420" cy="88140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1" name="文本框 2"/>
          <p:cNvSpPr>
            <a:spLocks noGrp="1"/>
          </p:cNvSpPr>
          <p:nvPr/>
        </p:nvSpPr>
        <p:spPr>
          <a:xfrm>
            <a:off x="9763201" y="6305810"/>
            <a:ext cx="2199640" cy="34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智能终端操作系统根社区</a:t>
            </a:r>
            <a:endParaRPr sz="1400" kern="12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直接连接符 15"/>
          <p:cNvSpPr>
            <a:spLocks noGrp="1"/>
          </p:cNvSpPr>
          <p:nvPr/>
        </p:nvSpPr>
        <p:spPr>
          <a:xfrm>
            <a:off x="11291011" y="6623945"/>
            <a:ext cx="537845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43" name="矩形 9"/>
          <p:cNvSpPr>
            <a:spLocks noGrp="1"/>
          </p:cNvSpPr>
          <p:nvPr/>
        </p:nvSpPr>
        <p:spPr>
          <a:xfrm>
            <a:off x="456565" y="1199515"/>
            <a:ext cx="1210588" cy="707886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 i="0" u="none" cap="none" spc="0">
                <a:ln>
                  <a:noFill/>
                </a:ln>
                <a:solidFill>
                  <a:srgbClr val="08A8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sz="4000" b="1" i="0" u="none" kern="1200" cap="none" spc="0" baseline="0">
              <a:ln>
                <a:noFill/>
              </a:ln>
              <a:solidFill>
                <a:srgbClr val="08A8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文本框 10"/>
          <p:cNvSpPr>
            <a:spLocks noGrp="1"/>
          </p:cNvSpPr>
          <p:nvPr/>
        </p:nvSpPr>
        <p:spPr>
          <a:xfrm>
            <a:off x="481965" y="576640"/>
            <a:ext cx="41249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sz="3200" b="1">
                <a:solidFill>
                  <a:srgbClr val="08A8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CONTENTS</a:t>
            </a:r>
            <a:endParaRPr sz="3200" b="1">
              <a:solidFill>
                <a:srgbClr val="08A8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6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8" name="文本框 6"/>
          <p:cNvSpPr>
            <a:spLocks noGrp="1"/>
          </p:cNvSpPr>
          <p:nvPr/>
        </p:nvSpPr>
        <p:spPr>
          <a:xfrm>
            <a:off x="9906635" y="6367145"/>
            <a:ext cx="2199640" cy="34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智能终端操作系统根社区</a:t>
            </a:r>
            <a:endParaRPr sz="1400" kern="12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直接连接符 7"/>
          <p:cNvSpPr>
            <a:spLocks noGrp="1"/>
          </p:cNvSpPr>
          <p:nvPr/>
        </p:nvSpPr>
        <p:spPr>
          <a:xfrm>
            <a:off x="11434445" y="6685280"/>
            <a:ext cx="537845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/>
      <p:sp>
        <p:nvSpPr>
          <p:cNvPr id="51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1" name=""/>
        <p:cNvGrpSpPr/>
        <p:nvPr/>
      </p:nvGrpSpPr>
      <p:grpSpPr/>
      <p:sp>
        <p:nvSpPr>
          <p:cNvPr id="53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/>
      <p:sp>
        <p:nvSpPr>
          <p:cNvPr id="15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">
    <p:spTree>
      <p:nvGrpSpPr>
        <p:cNvPr id="1" name=""/>
        <p:cNvGrpSpPr/>
        <p:nvPr/>
      </p:nvGrpSpPr>
      <p:grpSpPr/>
      <p:sp>
        <p:nvSpPr>
          <p:cNvPr id="17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A6F9"/>
            </a:gs>
            <a:gs pos="100000">
              <a:srgbClr val="81BD0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灯片编号占位符 5"/>
          <p:cNvSpPr>
            <a:spLocks noGrp="1"/>
          </p:cNvSpPr>
          <p:nvPr>
            <p:ph type="sldNum" idx="4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>
              <a:buNone/>
              <a:defRPr sz="1200">
                <a:solidFill>
                  <a:schemeClr val="bg1"/>
                </a:solidFill>
                <a:latin typeface="Source Han Sans CN Normal"/>
                <a:ea typeface="Source Han Sans CN Normal"/>
                <a:cs typeface="Source Han Sans CN Normal"/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7.jpe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4"/>
          <p:cNvSpPr>
            <a:spLocks noGrp="1"/>
          </p:cNvSpPr>
          <p:nvPr/>
        </p:nvSpPr>
        <p:spPr>
          <a:xfrm>
            <a:off x="3417888" y="5226665"/>
            <a:ext cx="5356225" cy="73088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（常新队-易荛）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（2026年8月）</a:t>
            </a:r>
            <a:endParaRPr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6"/>
          <p:cNvSpPr>
            <a:spLocks noGrp="1"/>
          </p:cNvSpPr>
          <p:nvPr/>
        </p:nvSpPr>
        <p:spPr>
          <a:xfrm>
            <a:off x="1908747" y="1852426"/>
            <a:ext cx="8374507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4800" b="1" dirty="0">
                <a:solidFill>
                  <a:srgbClr val="08A8F6"/>
                </a:solidFill>
                <a:latin typeface="微软雅黑" panose="020B0503020204020204" charset="-122"/>
                <a:ea typeface="微软雅黑" panose="020B0503020204020204" charset="-122"/>
                <a:cs typeface="Source Han Sans CN Bold" panose="020B0800000000000000" charset="-122"/>
                <a:sym typeface="+mn-ea"/>
              </a:rPr>
              <a:t>OH创新大赛赛道三作品提交</a:t>
            </a:r>
            <a:endParaRPr sz="4800" b="1">
              <a:solidFill>
                <a:srgbClr val="08A8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10"/>
          <p:cNvSpPr>
            <a:spLocks noGrp="1"/>
          </p:cNvSpPr>
          <p:nvPr/>
        </p:nvSpPr>
        <p:spPr>
          <a:xfrm>
            <a:off x="3232175" y="2868089"/>
            <a:ext cx="57276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  <a:buNone/>
            </a:pPr>
            <a:r>
              <a:rPr sz="2800">
                <a:solidFill>
                  <a:srgbClr val="08A8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做个决定</a:t>
            </a:r>
            <a:endParaRPr sz="2800">
              <a:solidFill>
                <a:srgbClr val="08A8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圆角矩形 26"/>
          <p:cNvSpPr>
            <a:spLocks noGrp="1"/>
          </p:cNvSpPr>
          <p:nvPr/>
        </p:nvSpPr>
        <p:spPr>
          <a:xfrm>
            <a:off x="2741964" y="2138212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27"/>
          <p:cNvSpPr>
            <a:spLocks noGrp="1"/>
          </p:cNvSpPr>
          <p:nvPr/>
        </p:nvSpPr>
        <p:spPr>
          <a:xfrm>
            <a:off x="3585244" y="3076107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应用核心功能</a:t>
            </a:r>
            <a:endParaRPr sz="2400" b="1">
              <a:ln>
                <a:noFill/>
              </a:ln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28"/>
          <p:cNvSpPr>
            <a:spLocks noGrp="1"/>
          </p:cNvSpPr>
          <p:nvPr/>
        </p:nvSpPr>
        <p:spPr>
          <a:xfrm>
            <a:off x="2734344" y="3063407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29"/>
          <p:cNvSpPr>
            <a:spLocks noGrp="1"/>
          </p:cNvSpPr>
          <p:nvPr/>
        </p:nvSpPr>
        <p:spPr>
          <a:xfrm>
            <a:off x="3585244" y="4001302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创新性</a:t>
            </a:r>
            <a:endParaRPr sz="2400" b="1">
              <a:ln>
                <a:noFill/>
              </a:ln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30"/>
          <p:cNvSpPr>
            <a:spLocks noGrp="1"/>
          </p:cNvSpPr>
          <p:nvPr/>
        </p:nvSpPr>
        <p:spPr>
          <a:xfrm>
            <a:off x="2734344" y="3988602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44"/>
          <p:cNvSpPr>
            <a:spLocks noGrp="1"/>
          </p:cNvSpPr>
          <p:nvPr/>
        </p:nvSpPr>
        <p:spPr>
          <a:xfrm>
            <a:off x="3597944" y="2138212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创作简介</a:t>
            </a:r>
            <a:endParaRPr sz="2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灯片编号占位符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>
                <a:latin typeface="+mj-ea"/>
                <a:ea typeface="+mj-ea"/>
              </a:rPr>
              <a:t>2</a:t>
            </a:r>
            <a:endParaRPr lang="en-US">
              <a:latin typeface="+mj-ea"/>
              <a:ea typeface="+mj-ea"/>
            </a:endParaRPr>
          </a:p>
        </p:txBody>
      </p:sp>
      <p:sp>
        <p:nvSpPr>
          <p:cNvPr id="13" name="圆角矩形 29"/>
          <p:cNvSpPr>
            <a:spLocks noGrp="1"/>
          </p:cNvSpPr>
          <p:nvPr/>
        </p:nvSpPr>
        <p:spPr>
          <a:xfrm>
            <a:off x="3597944" y="4913797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ln>
                  <a:noFill/>
                </a:ln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商业价值</a:t>
            </a:r>
            <a:endParaRPr sz="2400" b="1">
              <a:ln>
                <a:noFill/>
              </a:ln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30"/>
          <p:cNvSpPr>
            <a:spLocks noGrp="1"/>
          </p:cNvSpPr>
          <p:nvPr/>
        </p:nvSpPr>
        <p:spPr>
          <a:xfrm>
            <a:off x="2747044" y="4901097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>
                <a:latin typeface="+mj-ea"/>
                <a:ea typeface="+mj-ea"/>
                <a:cs typeface="微软雅黑" panose="020B0503020204020204" charset="-122"/>
              </a:rPr>
              <a:t>3</a:t>
            </a:r>
            <a:endParaRPr lang="en-US">
              <a:latin typeface="+mj-ea"/>
              <a:ea typeface="+mj-ea"/>
              <a:cs typeface="微软雅黑" panose="020B0503020204020204" charset="-122"/>
            </a:endParaRPr>
          </a:p>
        </p:txBody>
      </p:sp>
      <p:sp>
        <p:nvSpPr>
          <p:cNvPr id="17" name="文本占位符 2"/>
          <p:cNvSpPr>
            <a:spLocks noGrp="1"/>
          </p:cNvSpPr>
          <p:nvPr>
            <p:ph type="body" idx="13"/>
          </p:nvPr>
        </p:nvSpPr>
        <p:spPr>
          <a:xfrm>
            <a:off x="195815" y="200290"/>
            <a:ext cx="5966068" cy="446134"/>
          </a:xfrm>
        </p:spPr>
        <p:txBody>
          <a:bodyPr anchor="ctr"/>
          <a:lstStyle/>
          <a:p>
            <a:r>
              <a:t>创作简介</a:t>
            </a:r>
            <a:endParaRPr sz="28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4"/>
          <p:cNvSpPr>
            <a:spLocks noGrp="1"/>
          </p:cNvSpPr>
          <p:nvPr/>
        </p:nvSpPr>
        <p:spPr>
          <a:xfrm>
            <a:off x="685761" y="2417700"/>
            <a:ext cx="3840480" cy="38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为什么做这款</a:t>
            </a: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</a:t>
            </a: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</a:t>
            </a: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字左右）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4"/>
          <p:cNvSpPr>
            <a:spLocks noGrp="1"/>
          </p:cNvSpPr>
          <p:nvPr/>
        </p:nvSpPr>
        <p:spPr>
          <a:xfrm>
            <a:off x="681316" y="4569388"/>
            <a:ext cx="3840480" cy="38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应用一句话亮点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4"/>
          <p:cNvSpPr>
            <a:spLocks noGrp="1"/>
          </p:cNvSpPr>
          <p:nvPr/>
        </p:nvSpPr>
        <p:spPr>
          <a:xfrm>
            <a:off x="681316" y="950500"/>
            <a:ext cx="8516472" cy="38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团队简介：队长姓名、团队成员姓名、学校、专业、指导老师、联络人手机号、微信号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685800" y="2872110"/>
            <a:ext cx="10607040" cy="158755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30000"/>
              </a:lnSpc>
              <a:buNone/>
            </a:pPr>
            <a:r>
              <a:rPr sz="14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吃什么、去哪玩、谁先来让日常选择和聚会决策经常卡在没人拍板。我们做了一款纯离线决策工具，把转盘、抽签、指尖选择、抛硬币和随机数放在一个入口，多人聚会无需登录，打开即可完成公平、透明的选择。</a:t>
            </a:r>
            <a:endParaRPr sz="140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685800" y="5042086"/>
            <a:ext cx="10607040" cy="8229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「 聚会救星纯离线决策盒，转盘、抽签、指尖选择一应俱全，选择困难3秒治愈。 」</a:t>
            </a:r>
            <a:endParaRPr sz="17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742315" y="1483360"/>
            <a:ext cx="10177145" cy="9220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t>队长：易荛    团队成员：易荛    学校：湘潭理工学院    专业：信息与计算科学指导老师：徐畅    联络人手机号：13367425801    微信号：yy562389451278</a:t>
            </a:r>
          </a:p>
          <a:p>
            <a:r>
              <a:t>指导老师：徐畅    联络人手机号：13367425801    微信号：yy562389451278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" name="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>
                <a:latin typeface="+mj-ea"/>
                <a:ea typeface="+mj-ea"/>
                <a:cs typeface="微软雅黑" panose="020B0503020204020204" charset="-122"/>
              </a:rPr>
              <a:t>4</a:t>
            </a:r>
            <a:endParaRPr lang="en-US">
              <a:latin typeface="+mj-ea"/>
              <a:ea typeface="+mj-ea"/>
              <a:cs typeface="微软雅黑" panose="020B0503020204020204" charset="-122"/>
            </a:endParaRPr>
          </a:p>
        </p:txBody>
      </p:sp>
      <p:sp>
        <p:nvSpPr>
          <p:cNvPr id="23" name="文本占位符 2"/>
          <p:cNvSpPr>
            <a:spLocks noGrp="1"/>
          </p:cNvSpPr>
          <p:nvPr>
            <p:ph type="body" idx="13"/>
          </p:nvPr>
        </p:nvSpPr>
        <p:spPr>
          <a:xfrm>
            <a:off x="195815" y="200290"/>
            <a:ext cx="5966068" cy="446134"/>
          </a:xfrm>
        </p:spPr>
        <p:txBody>
          <a:bodyPr anchor="ctr"/>
          <a:lstStyle/>
          <a:p>
            <a:r>
              <a:rPr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应用核心功能</a:t>
            </a:r>
            <a:endParaRPr sz="28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文本框 3"/>
          <p:cNvSpPr>
            <a:spLocks noGrp="1"/>
          </p:cNvSpPr>
          <p:nvPr/>
        </p:nvSpPr>
        <p:spPr>
          <a:xfrm>
            <a:off x="600634" y="1109012"/>
            <a:ext cx="3836895" cy="38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差异化功能，图文并茂（每点</a:t>
            </a: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</a:t>
            </a: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字以内）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>
            <a:spLocks noGrp="1"/>
          </p:cNvSpPr>
          <p:nvPr/>
        </p:nvSpPr>
        <p:spPr>
          <a:xfrm>
            <a:off x="603504" y="1691640"/>
            <a:ext cx="6144768" cy="44805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200"/>
              </a:spcAft>
              <a:buNone/>
            </a:pPr>
            <a:r>
              <a:rPr sz="13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幸运转盘</a:t>
            </a:r>
            <a:endParaRPr sz="1350" b="1"/>
          </a:p>
          <a:p>
            <a:pPr marL="238125" indent="0">
              <a:lnSpc>
                <a:spcPct val="112000"/>
              </a:lnSpc>
              <a:spcAft>
                <a:spcPts val="800"/>
              </a:spcAft>
              <a:buNone/>
            </a:pPr>
            <a:r>
              <a:rPr sz="125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支持自定义选项，结果先确定再播放动画，最终停留位置与结果一致。</a:t>
            </a:r>
            <a:endParaRPr sz="1250" b="0"/>
          </a:p>
          <a:p>
            <a:pPr>
              <a:spcAft>
                <a:spcPts val="200"/>
              </a:spcAft>
              <a:buNone/>
            </a:pPr>
            <a:r>
              <a:rPr sz="13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多人指尖选择</a:t>
            </a:r>
            <a:endParaRPr sz="1350" b="1"/>
          </a:p>
          <a:p>
            <a:pPr marL="238125" indent="0">
              <a:lnSpc>
                <a:spcPct val="112000"/>
              </a:lnSpc>
              <a:spcAft>
                <a:spcPts val="800"/>
              </a:spcAft>
              <a:buNone/>
            </a:pPr>
            <a:r>
              <a:rPr sz="125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多人同时触屏，倒计时后随机选中一人，适合聚会点名与分组。</a:t>
            </a:r>
            <a:endParaRPr sz="1250" b="0"/>
          </a:p>
          <a:p>
            <a:pPr>
              <a:spcAft>
                <a:spcPts val="200"/>
              </a:spcAft>
              <a:buNone/>
            </a:pPr>
            <a:r>
              <a:rPr sz="13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抽签与随机工具</a:t>
            </a:r>
            <a:endParaRPr sz="1350" b="1"/>
          </a:p>
          <a:p>
            <a:pPr marL="238125" indent="0">
              <a:lnSpc>
                <a:spcPct val="112000"/>
              </a:lnSpc>
              <a:spcAft>
                <a:spcPts val="800"/>
              </a:spcAft>
              <a:buNone/>
            </a:pPr>
            <a:r>
              <a:rPr sz="125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抽签支持允许重复或不重复，另有抛硬币、是/否和随机数字工具。</a:t>
            </a:r>
            <a:endParaRPr sz="1250" b="0"/>
          </a:p>
          <a:p>
            <a:pPr>
              <a:spcAft>
                <a:spcPts val="200"/>
              </a:spcAft>
              <a:buNone/>
            </a:pPr>
            <a:r>
              <a:rPr sz="13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模板与历史记录</a:t>
            </a:r>
            <a:endParaRPr sz="1350" b="1"/>
          </a:p>
          <a:p>
            <a:pPr marL="238125" indent="0">
              <a:lnSpc>
                <a:spcPct val="112000"/>
              </a:lnSpc>
              <a:spcAft>
                <a:spcPts val="800"/>
              </a:spcAft>
              <a:buNone/>
            </a:pPr>
            <a:r>
              <a:rPr sz="125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常用场景可直接套用，自定义模板与历史结果支持复用，决策更高效。</a:t>
            </a:r>
            <a:endParaRPr sz="1250" b="0"/>
          </a:p>
        </p:txBody>
      </p:sp>
      <p:pic>
        <p:nvPicPr>
          <p:cNvPr id="26" name="Picture 25" descr="led2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6288" y="1417320"/>
            <a:ext cx="1664208" cy="364967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21424" y="5112711"/>
            <a:ext cx="1773936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转盘·自定义选项</a:t>
            </a:r>
            <a:endParaRPr sz="10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8" name="Picture 27" descr="led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4504" y="1417320"/>
            <a:ext cx="1664208" cy="364967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549640" y="5112711"/>
            <a:ext cx="1773936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多人指尖选择</a:t>
            </a:r>
            <a:endParaRPr sz="10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0" name="Picture 29" descr="led3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1417320"/>
            <a:ext cx="1664208" cy="364967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277856" y="5112711"/>
            <a:ext cx="1773936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抽签·硬币·随机</a:t>
            </a:r>
            <a:endParaRPr sz="10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876288" y="5505903"/>
            <a:ext cx="512064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95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※ 以上截图均为 DevEco Studio 模拟器实机运行效果</a:t>
            </a:r>
            <a:endParaRPr sz="95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" name="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>
                <a:latin typeface="+mj-ea"/>
                <a:ea typeface="+mj-ea"/>
              </a:rPr>
              <a:t>5</a:t>
            </a:r>
            <a:endParaRPr lang="en-US">
              <a:latin typeface="+mj-ea"/>
              <a:ea typeface="+mj-ea"/>
            </a:endParaRPr>
          </a:p>
        </p:txBody>
      </p:sp>
      <p:sp>
        <p:nvSpPr>
          <p:cNvPr id="27" name="文本占位符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创新性</a:t>
            </a:r>
          </a:p>
        </p:txBody>
      </p:sp>
      <p:sp>
        <p:nvSpPr>
          <p:cNvPr id="28" name="文本框 3"/>
          <p:cNvSpPr>
            <a:spLocks noGrp="1"/>
          </p:cNvSpPr>
          <p:nvPr/>
        </p:nvSpPr>
        <p:spPr>
          <a:xfrm>
            <a:off x="600634" y="1109012"/>
            <a:ext cx="3836895" cy="38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体验的创新与提升（每点</a:t>
            </a: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</a:t>
            </a: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字左右）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文本框 4"/>
          <p:cNvSpPr>
            <a:spLocks noGrp="1"/>
          </p:cNvSpPr>
          <p:nvPr/>
        </p:nvSpPr>
        <p:spPr>
          <a:xfrm>
            <a:off x="600634" y="3923929"/>
            <a:ext cx="3836895" cy="38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接入的鸿蒙特性（每点</a:t>
            </a: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</a:t>
            </a: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字左右）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>
            <a:spLocks noGrp="1"/>
          </p:cNvSpPr>
          <p:nvPr/>
        </p:nvSpPr>
        <p:spPr>
          <a:xfrm>
            <a:off x="603504" y="1572768"/>
            <a:ext cx="10972800" cy="21488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20000"/>
              </a:lnSpc>
              <a:spcAft>
                <a:spcPts val="8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公平可验证：先生成结果、后呈现动画，降低动画决定结果的不透明感。</a:t>
            </a:r>
            <a:endParaRPr sz="1400" b="0"/>
          </a:p>
          <a:p>
            <a:pPr>
              <a:lnSpc>
                <a:spcPct val="120000"/>
              </a:lnSpc>
              <a:spcAft>
                <a:spcPts val="8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聚会场景化：指尖选择面向多人同屏交互，一部手机即可完成点名、分组和轮流。</a:t>
            </a:r>
            <a:endParaRPr sz="1400" b="0"/>
          </a:p>
          <a:p>
            <a:pPr>
              <a:lnSpc>
                <a:spcPct val="120000"/>
              </a:lnSpc>
              <a:spcAft>
                <a:spcPts val="8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纯净即开即用：无网络、无登录、无广告，轻量工具不打断真实社交。</a:t>
            </a:r>
            <a:endParaRPr sz="1400" b="0"/>
          </a:p>
        </p:txBody>
      </p:sp>
      <p:sp>
        <p:nvSpPr>
          <p:cNvPr id="31" name="TextBox 30"/>
          <p:cNvSpPr>
            <a:spLocks noGrp="1"/>
          </p:cNvSpPr>
          <p:nvPr/>
        </p:nvSpPr>
        <p:spPr>
          <a:xfrm>
            <a:off x="603504" y="4389120"/>
            <a:ext cx="10972800" cy="21488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20000"/>
              </a:lnSpc>
              <a:spcAft>
                <a:spcPts val="8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原生开发：ArkTS/ArkUI + Stage 模型，HarmonyOS API 22 基线。</a:t>
            </a:r>
            <a:endParaRPr sz="1400" b="0"/>
          </a:p>
          <a:p>
            <a:pPr>
              <a:lnSpc>
                <a:spcPct val="120000"/>
              </a:lnSpc>
              <a:spcAft>
                <a:spcPts val="8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多点触控：利用鸿蒙触控事件实现多人同时参与的指尖选择。</a:t>
            </a:r>
            <a:endParaRPr sz="1400" b="0"/>
          </a:p>
          <a:p>
            <a:pPr>
              <a:lnSpc>
                <a:spcPct val="120000"/>
              </a:lnSpc>
              <a:spcAft>
                <a:spcPts val="8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可靠交互：Preferences 持久化模板与历史，后台动画自动收束，适配深浅色主题。</a:t>
            </a:r>
            <a:endParaRPr sz="1400" b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>
                <a:latin typeface="+mj-ea"/>
                <a:ea typeface="+mj-ea"/>
              </a:rPr>
              <a:t>6</a:t>
            </a:r>
            <a:endParaRPr lang="en-US">
              <a:latin typeface="+mj-ea"/>
              <a:ea typeface="+mj-ea"/>
            </a:endParaRPr>
          </a:p>
        </p:txBody>
      </p:sp>
      <p:sp>
        <p:nvSpPr>
          <p:cNvPr id="32" name="文本占位符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商业价值</a:t>
            </a:r>
          </a:p>
        </p:txBody>
      </p:sp>
      <p:sp>
        <p:nvSpPr>
          <p:cNvPr id="33" name="文本框 3"/>
          <p:cNvSpPr>
            <a:spLocks noGrp="1"/>
          </p:cNvSpPr>
          <p:nvPr/>
        </p:nvSpPr>
        <p:spPr>
          <a:xfrm>
            <a:off x="600634" y="1109012"/>
            <a:ext cx="3836895" cy="38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用户范围、商业潜力、用户反馈等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>
            <a:spLocks noGrp="1"/>
          </p:cNvSpPr>
          <p:nvPr/>
        </p:nvSpPr>
        <p:spPr>
          <a:xfrm>
            <a:off x="603504" y="1600200"/>
            <a:ext cx="10972800" cy="12344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20000"/>
              </a:lnSpc>
              <a:spcAft>
                <a:spcPts val="6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用户范围：</a:t>
            </a: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朋友聚会、班级团建、家庭出游、办公室午间决策和活动组织等多人场景。</a:t>
            </a:r>
            <a:endParaRPr sz="1400" b="0"/>
          </a:p>
        </p:txBody>
      </p:sp>
      <p:sp>
        <p:nvSpPr>
          <p:cNvPr id="35" name="TextBox 34"/>
          <p:cNvSpPr>
            <a:spLocks noGrp="1"/>
          </p:cNvSpPr>
          <p:nvPr/>
        </p:nvSpPr>
        <p:spPr>
          <a:xfrm>
            <a:off x="603504" y="4160520"/>
            <a:ext cx="10972800" cy="12344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20000"/>
              </a:lnSpc>
              <a:spcAft>
                <a:spcPts val="6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用户反馈：</a:t>
            </a: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多种决策方式覆盖单人微决策到多人互动，模板和离线特性让临时使用更顺手。</a:t>
            </a:r>
            <a:endParaRPr sz="1400" b="0"/>
          </a:p>
        </p:txBody>
      </p:sp>
      <p:sp>
        <p:nvSpPr>
          <p:cNvPr id="36" name="TextBox 35"/>
          <p:cNvSpPr>
            <a:spLocks noGrp="1"/>
          </p:cNvSpPr>
          <p:nvPr/>
        </p:nvSpPr>
        <p:spPr>
          <a:xfrm>
            <a:off x="603504" y="2880360"/>
            <a:ext cx="10972800" cy="12344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20000"/>
              </a:lnSpc>
              <a:spcAft>
                <a:spcPts val="6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商业潜力：</a:t>
            </a: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可拓展聚会小游戏合集、主题转盘、活动主持工具和品牌联名场景等增值内容。</a:t>
            </a:r>
            <a:endParaRPr sz="1400" b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/>
        <p:txBody>
          <a:bodyPr/>
          <a:p>
            <a:r>
              <a:rPr lang="en-US" altLang="zh-CN" dirty="0">
                <a:sym typeface="+mn-ea"/>
              </a:rPr>
              <a:t>Demo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idx="12"/>
          </p:nvPr>
        </p:nvSpPr>
        <p:spPr/>
        <p:txBody>
          <a:bodyPr/>
          <a:p>
            <a:r>
              <a:rPr lang="en-US">
                <a:latin typeface="+mj-ea"/>
                <a:ea typeface="+mj-ea"/>
              </a:rPr>
              <a:t>7</a:t>
            </a:r>
            <a:endParaRPr lang="en-US">
              <a:latin typeface="+mj-ea"/>
              <a:ea typeface="+mj-ea"/>
            </a:endParaRPr>
          </a:p>
        </p:txBody>
      </p:sp>
      <p:pic>
        <p:nvPicPr>
          <p:cNvPr id="38" name="做个决定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4861560" y="1006475"/>
            <a:ext cx="2468880" cy="47548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73710" y="1006475"/>
            <a:ext cx="4064000" cy="4508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Source Han Sans CN Regular" panose="020B0800000000000000" charset="-122"/>
                <a:sym typeface="+mn-ea"/>
              </a:rPr>
              <a:t>请录制一段小视频，展示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Source Han Sans CN Regular" panose="020B0800000000000000" charset="-122"/>
                <a:sym typeface="+mn-ea"/>
              </a:rPr>
              <a:t>APP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Source Han Sans CN Regular" panose="020B0800000000000000" charset="-122"/>
                <a:sym typeface="+mn-ea"/>
              </a:rPr>
              <a:t>功能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8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A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" name="文本框 8"/>
          <p:cNvSpPr>
            <a:spLocks noGrp="1"/>
          </p:cNvSpPr>
          <p:nvPr/>
        </p:nvSpPr>
        <p:spPr>
          <a:xfrm>
            <a:off x="3557237" y="1942121"/>
            <a:ext cx="507752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6600" b="1" i="0" u="none" cap="none" spc="0">
                <a:ln>
                  <a:noFill/>
                </a:ln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  谢</a:t>
            </a:r>
            <a:endParaRPr sz="6600" b="1" i="0" u="none" kern="1200" cap="none" spc="0" baseline="0">
              <a:ln>
                <a:noFill/>
              </a:ln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灯片编号占位符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>
                <a:latin typeface="+mj-ea"/>
                <a:ea typeface="+mj-ea"/>
              </a:rPr>
              <a:t>8</a:t>
            </a:r>
            <a:endParaRPr lang="en-US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1502</Words>
  <Application>WPS 演示</Application>
  <PresentationFormat>Converted Presentation</PresentationFormat>
  <Paragraphs>106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3" baseType="lpstr">
      <vt:lpstr>Arial</vt:lpstr>
      <vt:lpstr>宋体</vt:lpstr>
      <vt:lpstr>Wingdings</vt:lpstr>
      <vt:lpstr>Source Han Sans CN Normal</vt:lpstr>
      <vt:lpstr>Segoe Print</vt:lpstr>
      <vt:lpstr>Arial</vt:lpstr>
      <vt:lpstr>微软雅黑</vt:lpstr>
      <vt:lpstr>Arial Unicode MS</vt:lpstr>
      <vt:lpstr>Calibri</vt:lpstr>
      <vt:lpstr>Source Han Sans CN Bold</vt:lpstr>
      <vt:lpstr>Source Han Sans CN Regular</vt:lpstr>
      <vt:lpstr>Source Han Sans CN Bold</vt:lpstr>
      <vt:lpstr>Source Han Sans CN Normal</vt:lpstr>
      <vt:lpstr>Source Han Sans CN Regular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常新</cp:lastModifiedBy>
  <cp:revision>1</cp:revision>
  <dcterms:created xsi:type="dcterms:W3CDTF">2026-08-21T08:46:58Z</dcterms:created>
  <dcterms:modified xsi:type="dcterms:W3CDTF">2026-08-21T08:46:58Z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CBBE7E4F39F54AFAA5A1B0759C01884C_12</vt:lpwstr>
  </property>
</Properties>
</file>