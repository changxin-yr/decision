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9f0eb2452043d9" /><Relationship Type="http://schemas.openxmlformats.org/officeDocument/2006/relationships/extended-properties" Target="/docProps/app.xml" Id="R4592ee03c7c24c74" /><Relationship Type="http://schemas.openxmlformats.org/officeDocument/2006/relationships/officeDocument" Target="/ppt/presentation.xml" Id="Rbf636b454eae40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ce321f48484d95"/>
  </p:sldMasterIdLst>
  <p:notesMasterIdLst>
    <p:notesMasterId xmlns:r="http://schemas.openxmlformats.org/officeDocument/2006/relationships" r:id="Rc54e87f0e77c44bd"/>
  </p:notesMasterIdLst>
  <p:sldIdLst>
    <p:sldId xmlns:r="http://schemas.openxmlformats.org/officeDocument/2006/relationships" id="256" r:id="R0c1135040dc548f9"/>
    <p:sldId xmlns:r="http://schemas.openxmlformats.org/officeDocument/2006/relationships" id="257" r:id="Rc0e0ca879abe4d84"/>
    <p:sldId xmlns:r="http://schemas.openxmlformats.org/officeDocument/2006/relationships" id="258" r:id="Rfe84fdacacd64ff6"/>
    <p:sldId xmlns:r="http://schemas.openxmlformats.org/officeDocument/2006/relationships" id="259" r:id="Radeab395857b4293"/>
    <p:sldId xmlns:r="http://schemas.openxmlformats.org/officeDocument/2006/relationships" id="260" r:id="Rdc8e136bb02b4980"/>
    <p:sldId xmlns:r="http://schemas.openxmlformats.org/officeDocument/2006/relationships" id="261" r:id="R8786bfe27d0a4d59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7f22bc141d4152" /><Relationship Type="http://schemas.openxmlformats.org/officeDocument/2006/relationships/slideMaster" Target="/ppt/slideMasters/slideMaster1.xml" Id="R83ce321f48484d95" /><Relationship Type="http://schemas.openxmlformats.org/officeDocument/2006/relationships/notesMaster" Target="/ppt/notesMasters/notesMaster1.xml" Id="Rc54e87f0e77c44bd" /><Relationship Type="http://schemas.openxmlformats.org/officeDocument/2006/relationships/presProps" Target="/ppt/presProps.xml" Id="R4b98cd7288224e41" /><Relationship Type="http://schemas.openxmlformats.org/officeDocument/2006/relationships/viewProps" Target="/ppt/viewProps.xml" Id="R9e0a2d6d578d4965" /><Relationship Type="http://schemas.openxmlformats.org/officeDocument/2006/relationships/tableStyles" Target="/ppt/tableStyles.xml" Id="Rbca76b53ad864aa6" /><Relationship Type="http://schemas.openxmlformats.org/officeDocument/2006/relationships/slide" Target="/ppt/slides/slide1.xml" Id="R0c1135040dc548f9" /><Relationship Type="http://schemas.openxmlformats.org/officeDocument/2006/relationships/slide" Target="/ppt/slides/slide2.xml" Id="Rc0e0ca879abe4d84" /><Relationship Type="http://schemas.openxmlformats.org/officeDocument/2006/relationships/slide" Target="/ppt/slides/slide3.xml" Id="Rfe84fdacacd64ff6" /><Relationship Type="http://schemas.openxmlformats.org/officeDocument/2006/relationships/slide" Target="/ppt/slides/slide4.xml" Id="Radeab395857b4293" /><Relationship Type="http://schemas.openxmlformats.org/officeDocument/2006/relationships/slide" Target="/ppt/slides/slide5.xml" Id="Rdc8e136bb02b4980" /><Relationship Type="http://schemas.openxmlformats.org/officeDocument/2006/relationships/slide" Target="/ppt/slides/slide6.xml" Id="R8786bfe27d0a4d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b263f759b947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7323d4831848fe" /><Relationship Type="http://schemas.openxmlformats.org/officeDocument/2006/relationships/notesMaster" Target="/ppt/notesMasters/notesMaster1.xml" Id="R95ec02da4a7b4e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b196a979ae43da" /><Relationship Type="http://schemas.openxmlformats.org/officeDocument/2006/relationships/notesMaster" Target="/ppt/notesMasters/notesMaster1.xml" Id="R89082115c59c46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532e0e011f494d" /><Relationship Type="http://schemas.openxmlformats.org/officeDocument/2006/relationships/notesMaster" Target="/ppt/notesMasters/notesMaster1.xml" Id="R15594a7f16d14a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d16166356c4872" /><Relationship Type="http://schemas.openxmlformats.org/officeDocument/2006/relationships/notesMaster" Target="/ppt/notesMasters/notesMaster1.xml" Id="R4be74f63163349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1c2f00471b4dba" /><Relationship Type="http://schemas.openxmlformats.org/officeDocument/2006/relationships/notesMaster" Target="/ppt/notesMasters/notesMaster1.xml" Id="Rf1fd20e8f2864c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f36e2cb33c4429" /><Relationship Type="http://schemas.openxmlformats.org/officeDocument/2006/relationships/notesMaster" Target="/ppt/notesMasters/notesMaster1.xml" Id="R688ce4a9360045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855c1f269d452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3f54c0549d43e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20f86a827f4a8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6f35893805472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2aedd6989c4c4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80b776831e45d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1c194540d84c2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0a2903c78c4ea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2f77ba17eb4ac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686b628b2e435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71c4850f494c74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3A8A13-B878-480B-A6A2-EDD38E727EB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92778E7-A669-4F93-BFC4-17A0F21484D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3CC23D4-26CB-4900-B729-EFF02703B4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77070B-34B2-4A12-BFC9-3AF18BADC2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B88941E-4565-4991-93D2-5095F8E4B5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B020148-04BF-402B-A159-E16A125D52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B744A0B-28CF-4E96-90CB-3DF42620193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2E1FB37-CED2-4479-9E51-A33E9318F58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2277536-13E5-44DD-82AA-BACDE61EC1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552BDF6-C4E9-421B-851E-3B17C133CD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10D837B-FF5C-4DEE-B913-D9511C4F81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E5B25FC-414A-419F-9287-1887A1AE8A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91EC284-33BB-4184-BF13-7282B906475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14BF1F-103B-44DF-96F5-50531DFF93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B16F4E-9C3E-4DEC-8D2E-B7249A4A9F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5F2F69-7BCD-4E2E-8EDE-8BB71F34FC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F022615-9DEC-43D0-AE13-AD81E47ED5D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6A5B343-24F6-4408-B8BB-6D5C996B19C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E477F00-08CC-4484-8D00-A6D568F5B5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158A5B2-42E1-4819-BD8B-F7DA2F9C70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8024A8C-1AF9-45CE-83B9-8EE2E01242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39EEA32-B8DE-4D62-B36B-4E4EE11DFE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9727C00-C952-475E-980F-7911FCFB6E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A4603FE-2C52-43B5-AD0B-D37A0B375A2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D163F21-0D8D-4E01-A8FC-C39EC8DF064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11393FD8-7734-4908-8F67-DA02D6710EB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2F2D2A0-D221-4D15-98A3-AEFA9A5F48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5EA9603-88B2-4366-A340-A313965CF3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FEE8B98-DBBA-454F-BEAE-B9ED93CD6A7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7E0ED3E-E0EF-4AAE-B087-270D694A4D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5696A89-4C5D-4DF6-A918-D24252516FD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D4EA7C22-8155-4C1A-B3A2-459256BCB5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2810B9A0-7027-4A3B-9827-F558D87933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11D6EDD4-8D5E-41CC-9929-EA0F27D7151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F28361DE-59C6-418F-BF42-3D4A4AF70F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B7F09FF-2F00-40C5-B2BB-F8BF7927FE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36E4FD2-7918-4278-9923-AC14CE0FE5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FC1875C-B66C-4773-9707-E3D61961A14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511DE84-D196-4941-8182-885D50CC90B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1D50983-4E77-4F56-A442-3D43AB781CA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1B8E184-04CF-49A7-9527-1C996290FF0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B3E0A34-211F-4115-847C-5DE9DDF44A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358C3D-F6AB-4272-9407-19953A70AE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328B0C6-EF07-4ACA-B8B7-9056546EEA4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D48DE2D-CD12-4359-AF70-C638DAD9088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D11818B-CF48-45D9-93D9-98F65039776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50B043B-8E31-4BAF-B834-34B644F29D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E1A66D4-2D4A-4B14-93FA-2A6D2D39A2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19CA1F3-B469-44F7-8192-0F15750216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8F3214E-9142-411E-B514-13265312D4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703588C-1ECF-4215-92B4-A95878C692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2615919-4D06-4C33-9EFA-A54CBD4439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9155BD5-F5C2-4AEA-8040-8CFDA78FAF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A3924C4F-6650-4693-9FCC-DC1B16C9E5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BBCA3F5-7162-4759-804F-BD8F98F88F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7158975-B328-48A8-B362-AE5269BB60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0C63B1D-BD38-4CBB-9A32-BAFE7A4D6EF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F900BC-192F-4EFC-8566-92063616CE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b7555e62ee4279" /><Relationship Type="http://schemas.openxmlformats.org/officeDocument/2006/relationships/slideLayout" Target="/ppt/slideLayouts/slideLayout1.xml" Id="R600fe275256643fa" /><Relationship Type="http://schemas.openxmlformats.org/officeDocument/2006/relationships/slideLayout" Target="/ppt/slideLayouts/slideLayout2.xml" Id="Reeba6ec8750a4acb" /><Relationship Type="http://schemas.openxmlformats.org/officeDocument/2006/relationships/slideLayout" Target="/ppt/slideLayouts/slideLayout3.xml" Id="R64ba0186a0cb4e5d" /><Relationship Type="http://schemas.openxmlformats.org/officeDocument/2006/relationships/slideLayout" Target="/ppt/slideLayouts/slideLayout4.xml" Id="R4a3b1f198a98432b" /><Relationship Type="http://schemas.openxmlformats.org/officeDocument/2006/relationships/slideLayout" Target="/ppt/slideLayouts/slideLayout5.xml" Id="Refdec5d492a2446e" /><Relationship Type="http://schemas.openxmlformats.org/officeDocument/2006/relationships/slideLayout" Target="/ppt/slideLayouts/slideLayout6.xml" Id="R3bc170c769d44919" /><Relationship Type="http://schemas.openxmlformats.org/officeDocument/2006/relationships/slideLayout" Target="/ppt/slideLayouts/slideLayout7.xml" Id="Rc107032d4c4f449a" /><Relationship Type="http://schemas.openxmlformats.org/officeDocument/2006/relationships/slideLayout" Target="/ppt/slideLayouts/slideLayout8.xml" Id="R21f6985d0e164ee1" /><Relationship Type="http://schemas.openxmlformats.org/officeDocument/2006/relationships/slideLayout" Target="/ppt/slideLayouts/slideLayout9.xml" Id="Rb690fc4d530d4cb5" /><Relationship Type="http://schemas.openxmlformats.org/officeDocument/2006/relationships/slideLayout" Target="/ppt/slideLayouts/slideLayout10.xml" Id="R3e9e252c646f4a38" /><Relationship Type="http://schemas.openxmlformats.org/officeDocument/2006/relationships/slideLayout" Target="/ppt/slideLayouts/slideLayout11.xml" Id="Rafcbf4a2c3bf4fb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99F530D0-9C49-4472-BB4C-497BA58D7C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A9CDEB0-D8A8-4226-9783-B528E211DC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6B085F6-BD68-4009-A467-D421E76C84E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B8CD4EA-3558-42EE-A6D0-16EB9E8A9CD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D30C22-8BB0-4C93-8E5A-507752FBF12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0fe275256643fa"/>
    <p:sldLayoutId xmlns:r="http://schemas.openxmlformats.org/officeDocument/2006/relationships" id="2147483650" r:id="Reeba6ec8750a4acb"/>
    <p:sldLayoutId xmlns:r="http://schemas.openxmlformats.org/officeDocument/2006/relationships" id="2147483651" r:id="R64ba0186a0cb4e5d"/>
    <p:sldLayoutId xmlns:r="http://schemas.openxmlformats.org/officeDocument/2006/relationships" id="2147483652" r:id="R4a3b1f198a98432b"/>
    <p:sldLayoutId xmlns:r="http://schemas.openxmlformats.org/officeDocument/2006/relationships" id="2147483653" r:id="Refdec5d492a2446e"/>
    <p:sldLayoutId xmlns:r="http://schemas.openxmlformats.org/officeDocument/2006/relationships" id="2147483654" r:id="R3bc170c769d44919"/>
    <p:sldLayoutId xmlns:r="http://schemas.openxmlformats.org/officeDocument/2006/relationships" id="2147483655" r:id="Rc107032d4c4f449a"/>
    <p:sldLayoutId xmlns:r="http://schemas.openxmlformats.org/officeDocument/2006/relationships" id="2147483656" r:id="R21f6985d0e164ee1"/>
    <p:sldLayoutId xmlns:r="http://schemas.openxmlformats.org/officeDocument/2006/relationships" id="2147483657" r:id="Rb690fc4d530d4cb5"/>
    <p:sldLayoutId xmlns:r="http://schemas.openxmlformats.org/officeDocument/2006/relationships" id="2147483658" r:id="R3e9e252c646f4a38"/>
    <p:sldLayoutId xmlns:r="http://schemas.openxmlformats.org/officeDocument/2006/relationships" id="2147483659" r:id="Rafcbf4a2c3bf4fb3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82cae91efc6453a" /><Relationship Type="http://schemas.openxmlformats.org/officeDocument/2006/relationships/image" Target="/ppt/media/image.jpeg" Id="R9a0c304b1b024c75" /><Relationship Type="http://schemas.openxmlformats.org/officeDocument/2006/relationships/notesSlide" Target="/ppt/notesSlides/notesSlide1.xml" Id="R88f9cd99163b4a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2809247e2b7441c" /><Relationship Type="http://schemas.openxmlformats.org/officeDocument/2006/relationships/notesSlide" Target="/ppt/notesSlides/notesSlide2.xml" Id="R92daca4191a241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6288b687d244f53" /><Relationship Type="http://schemas.openxmlformats.org/officeDocument/2006/relationships/image" Target="/ppt/media/image.jpeg" Id="R18358bf05a744d10" /><Relationship Type="http://schemas.openxmlformats.org/officeDocument/2006/relationships/image" Target="/ppt/media/image2.jpeg" Id="Re00d81c54dcf4e0a" /><Relationship Type="http://schemas.openxmlformats.org/officeDocument/2006/relationships/image" Target="/ppt/media/image3.jpeg" Id="R7dfeb2dee4c94365" /><Relationship Type="http://schemas.openxmlformats.org/officeDocument/2006/relationships/notesSlide" Target="/ppt/notesSlides/notesSlide3.xml" Id="R453ed50f145249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d097118db214d91" /><Relationship Type="http://schemas.openxmlformats.org/officeDocument/2006/relationships/notesSlide" Target="/ppt/notesSlides/notesSlide4.xml" Id="R10b379e3bd4f46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5f946fc45df4d2b" /><Relationship Type="http://schemas.openxmlformats.org/officeDocument/2006/relationships/image" Target="/ppt/media/image3.jpeg" Id="R1f905a9d637b4734" /><Relationship Type="http://schemas.openxmlformats.org/officeDocument/2006/relationships/notesSlide" Target="/ppt/notesSlides/notesSlide5.xml" Id="Ra1a609d6fdba45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592b8c0c78e4eea" /><Relationship Type="http://schemas.openxmlformats.org/officeDocument/2006/relationships/image" Target="/ppt/media/image2.jpeg" Id="Rd65bff0a02634914" /><Relationship Type="http://schemas.openxmlformats.org/officeDocument/2006/relationships/notesSlide" Target="/ppt/notesSlides/notesSlide6.xml" Id="Re714f7627332469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7E62498-C855-478E-A504-9AB8F58C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5CCAA92-302D-4A88-B589-B004104F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40664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E402976-D9D2-45F5-A86B-E4572714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A9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04EAFD8-D498-4F2B-9628-570C016F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34440"/>
            <a:ext cx="6309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000" b="1">
                <a:solidFill>
                  <a:srgbClr val="4A5A9E"/>
                </a:solidFill>
                <a:latin typeface="微软雅黑"/>
                <a:ea typeface="微软雅黑"/>
                <a:cs typeface="微软雅黑"/>
              </a:rPr>
              <a:t>参赛作品简介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3E039CF-DC5E-4572-B2F0-649CE4EF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83080"/>
            <a:ext cx="63093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54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做个决定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097696D-337B-4640-962B-E970C264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880360"/>
            <a:ext cx="6309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7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6合1趣味随机决策 · 选择困难终极解药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F7B2F28-88DD-4AC6-B66F-2E7A0449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20440"/>
            <a:ext cx="502920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A9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4A6FE71F-625F-4CD8-93D5-FBFB0FBC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86200"/>
            <a:ext cx="2194560" cy="47548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4A5A9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441B7F4-E526-4345-BA77-407B3E72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95928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生活趣味 / 社交互动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C6BCB33-4C91-44A4-99F9-AD985BC9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92040"/>
            <a:ext cx="6309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常新队 · 队长：易荛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3B2CDC6-2F47-4984-BB0C-75CB9347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321808"/>
            <a:ext cx="6309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湘潭理工学院 · 信息与计算科学 · 指导老师：徐畅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CA02DE5-449A-4CAA-98E6-BED43E3F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87568"/>
            <a:ext cx="6309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HarmonyOS · ArkTS / ArkUI · 2026年8月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FDF086EE-CE50-41F6-BEDF-24D9B4E2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694944"/>
            <a:ext cx="2706624" cy="554653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4A5A9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1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0c304b1b024c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75320" y="841248"/>
            <a:ext cx="2395728" cy="5253922"/>
          </a:xfrm>
          <a:prstGeom xmlns:a="http://schemas.openxmlformats.org/drawingml/2006/main" prst="roundRect">
            <a:avLst>
              <a:gd name="adj" fmla="val 6361"/>
            </a:avLst>
          </a:prstGeom>
        </p:spPr>
      </p:pic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2B05E99-7B2E-443A-A61D-FF44F167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6479218"/>
            <a:ext cx="30358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DevEco Studio 模拟器实测</a:t>
            </a:r>
          </a:p>
        </p:txBody>
      </p:sp>
    </p:spTree>
    <p:extLst>
      <p:ext uri="{BB962C8B-B14F-4D97-AF65-F5344CB8AC3E}">
        <p14:creationId xmlns:p14="http://schemas.microsoft.com/office/powerpoint/2010/main" val="24804896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CC22824-A9B4-41CE-B285-D32B812F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A9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31B7B20-BB02-4DEA-A3A8-6207493E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7472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作品概述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998C74C-D04B-41DC-8866-AECF3E89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475488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300" b="1">
                <a:solidFill>
                  <a:srgbClr val="4A5A9E"/>
                </a:solidFill>
                <a:latin typeface="微软雅黑"/>
                <a:ea typeface="微软雅黑"/>
                <a:cs typeface="微软雅黑"/>
              </a:rPr>
              <a:t>做个决定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A8F9343-AF7F-49C9-9ED6-CD727580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960120"/>
            <a:ext cx="11155680" cy="14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9C104F9-89F7-45F9-80B9-288EA683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7395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2 / 6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198910D-D277-4352-958A-82130D28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25880"/>
            <a:ext cx="5120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4A5A9E"/>
                </a:solidFill>
                <a:latin typeface="微软雅黑"/>
                <a:ea typeface="微软雅黑"/>
                <a:cs typeface="微软雅黑"/>
              </a:rPr>
              <a:t>创作背景与定位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A453AC5-2F2B-47CD-B5E4-148A2F15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83080"/>
            <a:ext cx="5120640" cy="2103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“吃什么”“谁先来”“去哪玩”——选择困难是年轻人日常。现有决策类应用功能单一（仅转盘或仅硬币），且含广告。我们将6种随机决策方式集于一体：幸运转盘、抽签、指尖选择、抛硬币、是或否、随机数字，配合内置模板和历史记录，完全离线无广告，仅申请振动权限。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679F6E9-D384-457A-AFD4-8AA0C9DA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69080"/>
            <a:ext cx="5120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4A5A9E"/>
                </a:solidFill>
                <a:latin typeface="微软雅黑"/>
                <a:ea typeface="微软雅黑"/>
                <a:cs typeface="微软雅黑"/>
              </a:rPr>
              <a:t>目标用户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6C52842-9455-4387-A638-51A503B5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98848"/>
            <a:ext cx="51206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几乎所有年轻人都有选择困难，覆盖聚会/团建/课堂互动多人场景，使用频次高传播性强。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E25DF62-34F4-4846-949C-0FD045D6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40680"/>
            <a:ext cx="5120640" cy="7772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3F4FB"/>
          </a:solidFill>
          <a:ln xmlns:a="http://schemas.openxmlformats.org/drawingml/2006/main" w="9525">
            <a:solidFill>
              <a:srgbClr val="A9B4E6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9EC91CC-5ACA-44BF-9BE6-4ED240FA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96128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350" b="1">
                <a:solidFill>
                  <a:srgbClr val="4A5A9E"/>
                </a:solidFill>
                <a:latin typeface="微软雅黑"/>
                <a:ea typeface="微软雅黑"/>
                <a:cs typeface="微软雅黑"/>
              </a:rPr>
              <a:t>「 6种趣味随机决策方式合一，Canvas转盘+多点触控指尖选择，选择困难终极解药。 」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875E7F9-9D62-4561-851B-ABE36F99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325880"/>
            <a:ext cx="5120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4A5A9E"/>
                </a:solidFill>
                <a:latin typeface="微软雅黑"/>
                <a:ea typeface="微软雅黑"/>
                <a:cs typeface="微软雅黑"/>
              </a:rPr>
              <a:t>技术架构一览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DE8172DD-85B1-4CF4-A070-3318A4E8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783080"/>
            <a:ext cx="5230368" cy="8229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F03880-A76D-45EC-BD88-1F9EFC9F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938528"/>
            <a:ext cx="4800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ArkUI Canvas渲染引擎 + 多点触控事件API + 状态机驱动动画 + Preferences持久化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D1C08DC7-B424-476D-B5EE-C62063AD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880360"/>
            <a:ext cx="1371600" cy="40233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4A5A9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7BFC4D1-83DC-49F9-80DC-D2564F53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962656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开发框架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D6DE6FC4-9D61-4C99-9180-A459828E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880360"/>
            <a:ext cx="3767328" cy="40233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812792E-0C1A-4BE2-A954-3D60DA19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2962656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HarmonyOS ArkTS / ArkUI 声明式开发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8A23968F-B58F-4CD0-9AD1-0428A3FC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447288"/>
            <a:ext cx="1371600" cy="40233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4A5A9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6B29E6FB-F78D-462B-90A2-E2676C45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529584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API 基线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2A2C82B7-1762-4A55-B96C-6A33E488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447288"/>
            <a:ext cx="3767328" cy="40233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74B5CCD3-1026-40D4-9334-C9AEE835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529584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HarmonyOS API 24（6.1.1）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F35415CD-AA0B-4DA7-8830-B66F0124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014215"/>
            <a:ext cx="1371600" cy="40233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4A5A9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A7CB31AE-75F2-4533-BA8D-6E306619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096511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设备适配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8482B00B-0B1E-48DF-890B-FC0C7C54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4014215"/>
            <a:ext cx="3767328" cy="40233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BF481AC4-6CE2-48A7-9F47-55D77761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096511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手机 / 平板 / 2in1 一多适配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912F3DD2-CFDD-43F3-9102-CB314010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581144"/>
            <a:ext cx="1371600" cy="40233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4A5A9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13C7BBFF-5FF3-461C-9A33-6AE4ACAB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66344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隐私安全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0926C80C-41AB-4F51-B9D5-8B52725B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4581144"/>
            <a:ext cx="3767328" cy="40233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A316F02A-04EF-4917-AA92-534CCF0C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663440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全离线运行，最小化权限申请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1A380CC6-BA06-4FC4-A747-BE700B73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23036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4A5A9E"/>
                </a:solidFill>
                <a:latin typeface="微软雅黑"/>
                <a:ea typeface="微软雅黑"/>
                <a:cs typeface="微软雅黑"/>
              </a:rPr>
              <a:t>特性关键词</a:t>
            </a: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A397852D-5C44-4C50-9D37-B138E4EF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779008"/>
            <a:ext cx="1217980" cy="3657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4A5A9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77F8C69A-39E5-40F2-ADC1-D2508795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847588"/>
            <a:ext cx="1217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6种决策方式</a:t>
            </a: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00FAF5B0-1740-49F1-BB03-71B07E9E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8508" y="5779008"/>
            <a:ext cx="1217980" cy="3657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4A5A9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584EAB68-8297-40F8-BB21-19D20150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8508" y="5847588"/>
            <a:ext cx="1217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多点触控互动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66D298CB-8A81-4EE8-BFBB-6CFD80C0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217" y="5779008"/>
            <a:ext cx="1532534" cy="3657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4A5A9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702D6ADE-07A3-48B5-97A0-FC81FCF0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217" y="5847588"/>
            <a:ext cx="153253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结果100%一致</a:t>
            </a:r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147D4545-BEAE-488D-A65B-2827EF8B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5779008"/>
            <a:ext cx="746150" cy="3657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4A5A9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DBF45653-4EE3-48E8-9C07-1F551737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5847588"/>
            <a:ext cx="74615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零广告</a:t>
            </a:r>
          </a:p>
        </p:txBody>
      </p:sp>
    </p:spTree>
    <p:extLst>
      <p:ext uri="{BB962C8B-B14F-4D97-AF65-F5344CB8AC3E}">
        <p14:creationId xmlns:p14="http://schemas.microsoft.com/office/powerpoint/2010/main" val="92709694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C590B54-54E9-48E2-9CD7-192BB37B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A9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655BEA7-A201-42FD-8B29-47A6C305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7472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核心功能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C2308B3-C839-481B-A612-7EE339D5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475488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300" b="1">
                <a:solidFill>
                  <a:srgbClr val="4A5A9E"/>
                </a:solidFill>
                <a:latin typeface="微软雅黑"/>
                <a:ea typeface="微软雅黑"/>
                <a:cs typeface="微软雅黑"/>
              </a:rPr>
              <a:t>做个决定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BE175DB-A7FF-4CF2-9455-F25E7C2C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960120"/>
            <a:ext cx="11155680" cy="14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DC6C44E-6671-4B4E-92A4-BF5436AB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7395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3 / 6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812EFF0-BEF3-4D47-BD72-A95443B2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25880"/>
            <a:ext cx="5623560" cy="4983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200"/>
              </a:spcAft>
              <a:buNone/>
            </a:pPr>
            <a:r>
              <a:rPr sz="1300" b="1">
                <a:solidFill>
                  <a:srgbClr val="4A5A9E"/>
                </a:solidFill>
                <a:latin typeface="微软雅黑"/>
                <a:ea typeface="微软雅黑"/>
                <a:cs typeface="微软雅黑"/>
              </a:rPr>
              <a:t>① 六大决策工具集览</a:t>
            </a:r>
          </a:p>
          <a:p xmlns:a="http://schemas.openxmlformats.org/drawingml/2006/main">
            <a:pPr marL="238125" indent="0">
              <a:lnSpc>
                <a:spcPct val="112000"/>
              </a:lnSpc>
              <a:spcAft>
                <a:spcPts val="800"/>
              </a:spcAft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首页统一入口：幸运转盘/抽签/指尖选择/抛硬币/是或否/随机数字，内置“今天吃什么”等场景模板，历史记录本地持久化。</a:t>
            </a:r>
          </a:p>
          <a:p xmlns:a="http://schemas.openxmlformats.org/drawingml/2006/main">
            <a:pPr>
              <a:spcAft>
                <a:spcPts val="200"/>
              </a:spcAft>
              <a:buNone/>
            </a:pPr>
            <a:r>
              <a:rPr sz="1300" b="1">
                <a:solidFill>
                  <a:srgbClr val="4A5A9E"/>
                </a:solidFill>
                <a:latin typeface="微软雅黑"/>
                <a:ea typeface="微软雅黑"/>
                <a:cs typeface="微软雅黑"/>
              </a:rPr>
              <a:t>② Canvas幸运转盘</a:t>
            </a:r>
          </a:p>
          <a:p xmlns:a="http://schemas.openxmlformats.org/drawingml/2006/main">
            <a:pPr marL="238125" indent="0">
              <a:lnSpc>
                <a:spcPct val="112000"/>
              </a:lnSpc>
              <a:spcAft>
                <a:spcPts val="800"/>
              </a:spcAft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WheelCanvas绘制+WheelGeometry计算扇区+WheelLabelLayout标签排版，animateTo物理减速动画落点精确对应结果。</a:t>
            </a:r>
          </a:p>
          <a:p xmlns:a="http://schemas.openxmlformats.org/drawingml/2006/main">
            <a:pPr>
              <a:spcAft>
                <a:spcPts val="200"/>
              </a:spcAft>
              <a:buNone/>
            </a:pPr>
            <a:r>
              <a:rPr sz="1300" b="1">
                <a:solidFill>
                  <a:srgbClr val="4A5A9E"/>
                </a:solidFill>
                <a:latin typeface="微软雅黑"/>
                <a:ea typeface="微软雅黑"/>
                <a:cs typeface="微软雅黑"/>
              </a:rPr>
              <a:t>③ 快速决策三合一</a:t>
            </a:r>
          </a:p>
          <a:p xmlns:a="http://schemas.openxmlformats.org/drawingml/2006/main">
            <a:pPr marL="238125" indent="0">
              <a:lnSpc>
                <a:spcPct val="112000"/>
              </a:lnSpc>
              <a:spcAft>
                <a:spcPts val="800"/>
              </a:spcAft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CoinView抛硬币动画、SimpleDecisionState是或否、RandomService随机数字+QuickRangePreset快捷预设。</a:t>
            </a:r>
          </a:p>
          <a:p xmlns:a="http://schemas.openxmlformats.org/drawingml/2006/main">
            <a:pPr>
              <a:spcAft>
                <a:spcPts val="200"/>
              </a:spcAft>
              <a:buNone/>
            </a:pPr>
            <a:r>
              <a:rPr sz="1300" b="1">
                <a:solidFill>
                  <a:srgbClr val="4A5A9E"/>
                </a:solidFill>
                <a:latin typeface="微软雅黑"/>
                <a:ea typeface="微软雅黑"/>
                <a:cs typeface="微软雅黑"/>
              </a:rPr>
              <a:t>▪ 抽签</a:t>
            </a:r>
          </a:p>
          <a:p xmlns:a="http://schemas.openxmlformats.org/drawingml/2006/main">
            <a:pPr marL="238125" indent="0">
              <a:lnSpc>
                <a:spcPct val="112000"/>
              </a:lnSpc>
              <a:spcAft>
                <a:spcPts val="800"/>
              </a:spcAft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DrawSession状态机管理抽取流程，DrawMotionPlan驱动抽签动画，支持“允许重复”和“不重复”两种模式。</a:t>
            </a:r>
          </a:p>
          <a:p xmlns:a="http://schemas.openxmlformats.org/drawingml/2006/main">
            <a:pPr>
              <a:spcAft>
                <a:spcPts val="200"/>
              </a:spcAft>
              <a:buNone/>
            </a:pPr>
            <a:r>
              <a:rPr sz="1300" b="1">
                <a:solidFill>
                  <a:srgbClr val="4A5A9E"/>
                </a:solidFill>
                <a:latin typeface="微软雅黑"/>
                <a:ea typeface="微软雅黑"/>
                <a:cs typeface="微软雅黑"/>
              </a:rPr>
              <a:t>▪ 指尖选择</a:t>
            </a:r>
          </a:p>
          <a:p xmlns:a="http://schemas.openxmlformats.org/drawingml/2006/main">
            <a:pPr marL="238125" indent="0">
              <a:lnSpc>
                <a:spcPct val="112000"/>
              </a:lnSpc>
              <a:spcAft>
                <a:spcPts val="800"/>
              </a:spcAft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FingerSelectionMachine状态机+多点触控事件API，多人同时按压屏幕倒计时后随机选中一人。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E2ED18D8-B206-437C-8DE9-C2F6BA0E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234440"/>
            <a:ext cx="5029200" cy="49377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8F9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730AED3-2984-4375-90BD-2A632E23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389888"/>
            <a:ext cx="2377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1">
                <a:solidFill>
                  <a:srgbClr val="4A5A9E"/>
                </a:solidFill>
                <a:latin typeface="微软雅黑"/>
                <a:ea typeface="微软雅黑"/>
                <a:cs typeface="微软雅黑"/>
              </a:rPr>
              <a:t>实机运行效果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D1DAF77-0D68-4078-9B00-D6E04E87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17320"/>
            <a:ext cx="2331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DevEco Studio 模拟器</a:t>
            </a:r>
          </a:p>
        </p:txBody>
      </p:sp>
      <p:pic>
        <p:nvPicPr>
          <p:cNvPr id="36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358bf05a744d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67728" y="1828800"/>
            <a:ext cx="1481328" cy="3248608"/>
          </a:xfrm>
          <a:prstGeom xmlns:a="http://schemas.openxmlformats.org/drawingml/2006/main" prst="roundRect">
            <a:avLst>
              <a:gd name="adj" fmla="val 10288"/>
            </a:avLst>
          </a:prstGeom>
        </p:spPr>
      </p:pic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DC0F0C2C-D169-4ABA-AFCC-3CD089E1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448" y="1709928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5A9E"/>
          </a:solidFill>
          <a:ln xmlns:a="http://schemas.openxmlformats.org/drawingml/2006/main" w="1905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ED1B1CB2-BB10-4FB2-A141-42E6EC4F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864" y="5205424"/>
            <a:ext cx="1591056" cy="31089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4A5A9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0AC6A5D-A1B8-4331-B284-AC139390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864" y="5264860"/>
            <a:ext cx="15910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首页·六大决策工具</a:t>
            </a:r>
          </a:p>
        </p:txBody>
      </p:sp>
      <p:pic>
        <p:nvPicPr>
          <p:cNvPr id="40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0d81c54dcf4e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86216" y="1828800"/>
            <a:ext cx="1481328" cy="3248608"/>
          </a:xfrm>
          <a:prstGeom xmlns:a="http://schemas.openxmlformats.org/drawingml/2006/main" prst="roundRect">
            <a:avLst>
              <a:gd name="adj" fmla="val 10288"/>
            </a:avLst>
          </a:prstGeom>
        </p:spPr>
      </p:pic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A3504BA9-B101-4857-8B48-0D47DE14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1936" y="1709928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5A9E"/>
          </a:solidFill>
          <a:ln xmlns:a="http://schemas.openxmlformats.org/drawingml/2006/main" w="1905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0C0433B4-7FFD-47AC-A855-8E599909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5205424"/>
            <a:ext cx="1591056" cy="31089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4A5A9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9C4397C-C043-4E8B-B3D5-68E878FB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5264860"/>
            <a:ext cx="15910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幸运转盘·自定义选项</a:t>
            </a:r>
          </a:p>
        </p:txBody>
      </p:sp>
      <p:pic>
        <p:nvPicPr>
          <p:cNvPr id="44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feb2dee4c943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04704" y="1828800"/>
            <a:ext cx="1481328" cy="3248608"/>
          </a:xfrm>
          <a:prstGeom xmlns:a="http://schemas.openxmlformats.org/drawingml/2006/main" prst="roundRect">
            <a:avLst>
              <a:gd name="adj" fmla="val 10288"/>
            </a:avLst>
          </a:prstGeom>
        </p:spPr>
      </p:pic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60CDB447-6F58-4FF8-AFA3-4DF39703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424" y="1709928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5A9E"/>
          </a:solidFill>
          <a:ln xmlns:a="http://schemas.openxmlformats.org/drawingml/2006/main" w="1905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3B27A9B6-16C1-44B9-9D6E-022E637F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5205424"/>
            <a:ext cx="1591056" cy="31089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4A5A9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2D92BFEB-1AA7-4FE0-852D-03615804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5264860"/>
            <a:ext cx="15910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抛硬币·结果揭晓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DAA32F1-D61A-431D-887B-3C7209AC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5742432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※ 编号与左侧功能点一一对应，均为真实运行界面</a:t>
            </a:r>
          </a:p>
        </p:txBody>
      </p:sp>
    </p:spTree>
    <p:extLst>
      <p:ext uri="{BB962C8B-B14F-4D97-AF65-F5344CB8AC3E}">
        <p14:creationId xmlns:p14="http://schemas.microsoft.com/office/powerpoint/2010/main" val="84531867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5239AE-E326-40A7-B82A-3240F1EA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A9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C4523D0-6AF2-435F-95E3-1F0E7DBE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7472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技术实现与鸿蒙特性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FE9457F-6EA7-4967-974D-23A33343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475488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300" b="1">
                <a:solidFill>
                  <a:srgbClr val="4A5A9E"/>
                </a:solidFill>
                <a:latin typeface="微软雅黑"/>
                <a:ea typeface="微软雅黑"/>
                <a:cs typeface="微软雅黑"/>
              </a:rPr>
              <a:t>做个决定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0B50733-BBB8-4511-9E63-53BE39BE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960120"/>
            <a:ext cx="11155680" cy="14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711309F-D383-4257-BCD5-EE20BF1A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7395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4 / 6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9A09E52-3289-43B9-8C53-B3208B88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8016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4A5A9E"/>
                </a:solidFill>
                <a:latin typeface="微软雅黑"/>
                <a:ea typeface="微软雅黑"/>
                <a:cs typeface="微软雅黑"/>
              </a:rPr>
              <a:t>鸿蒙原生能力应用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E2E1FB0-C844-43D3-A13C-5CF78CE5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19656"/>
            <a:ext cx="8229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A9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76CA697-BB56-4221-84B9-4079563D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737360"/>
            <a:ext cx="521208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ArkUI Canvas API绘制转盘+WheelGeometry扇区计算+animateTo物理减速旋转动画。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8A93AFA-1A47-496A-941B-B18E8F97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898648"/>
            <a:ext cx="8229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A9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4C4666C-9B81-4989-9A35-8410A9C7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816352"/>
            <a:ext cx="521208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鸿蒙多点触控事件API实现指尖选择，精确追踪多指按压状态并随机选取。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9A19B85-8BD1-4F9D-BFC4-DE1AFC27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77639"/>
            <a:ext cx="8229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A9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42E9E31-0305-4717-9DA3-B6354BBA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895344"/>
            <a:ext cx="521208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Preferences API持久化模板/历史/设置，DecisionTiming管理动画时序与反馈节奏。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BC559F3-8A43-4C8F-9AE5-177F2AC1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56631"/>
            <a:ext cx="82296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A9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D478BC4-B89B-43F6-B00A-4358CE6F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974336"/>
            <a:ext cx="521208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适配手机+平板，深色/浅色/跟随系统三种主题模式。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728964EF-ACE4-4D20-B4C9-7C2FB994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737360"/>
            <a:ext cx="4983480" cy="246888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3D3D71CB-A94B-49F9-91DB-90B8E55B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920240"/>
            <a:ext cx="4434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00" b="1">
                <a:solidFill>
                  <a:srgbClr val="4A5A9E"/>
                </a:solidFill>
                <a:latin typeface="微软雅黑"/>
                <a:ea typeface="微软雅黑"/>
                <a:cs typeface="微软雅黑"/>
              </a:rPr>
              <a:t>关键模块架构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68F1DCAE-3170-4801-9713-116C0BDC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331720"/>
            <a:ext cx="4434840" cy="31089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4A5A9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D37BB66-295C-4F8F-9BD8-49446B2F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372868"/>
            <a:ext cx="4160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六大决策工具集览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F8D83F55-6B76-4758-A51B-7F93AC0C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697479"/>
            <a:ext cx="4434840" cy="31089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4A5A9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68BEC147-D534-4CE6-9255-BF19A885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738627"/>
            <a:ext cx="4160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Canvas幸运转盘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FA93B699-724B-4178-8478-74B14166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063239"/>
            <a:ext cx="4434840" cy="31089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4A5A9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73F21FC-75E4-4ECB-BDBC-696032E4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3104387"/>
            <a:ext cx="4160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快速决策三合一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4996016B-A2A0-4FED-93F1-FAE549D7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428999"/>
            <a:ext cx="4434840" cy="31089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4A5A9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FC62F5C-08AA-447F-ACA3-98544E71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3470147"/>
            <a:ext cx="4160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抽签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23D2474B-9B39-4BED-A01B-B77CEEF4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794759"/>
            <a:ext cx="4434840" cy="31089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4A5A9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740E6C0F-D57D-4CDA-A39D-ECF19539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3835907"/>
            <a:ext cx="4160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指尖选择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4D4EF8BE-0BD5-44C9-8AAA-19EE7B77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434840"/>
            <a:ext cx="4983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4A5A9E"/>
                </a:solidFill>
                <a:latin typeface="微软雅黑"/>
                <a:ea typeface="微软雅黑"/>
                <a:cs typeface="微软雅黑"/>
              </a:rPr>
              <a:t>工程质量保障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B7D5EB46-991E-45AB-AD5A-439D77AE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4846320"/>
            <a:ext cx="4983480" cy="10515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3F4FB"/>
          </a:solidFill>
          <a:ln xmlns:a="http://schemas.openxmlformats.org/drawingml/2006/main" w="9525">
            <a:solidFill>
              <a:srgbClr val="A9B4E6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0E04A3FA-5E14-4E79-8AE0-CBD0AAB3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5010912"/>
            <a:ext cx="45262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状态机驱动核心交互逻辑，输入实时校验防错，深浅色主题与多断点适配，全部数据本地持久化可恢复。</a:t>
            </a:r>
          </a:p>
        </p:txBody>
      </p:sp>
    </p:spTree>
    <p:extLst>
      <p:ext uri="{BB962C8B-B14F-4D97-AF65-F5344CB8AC3E}">
        <p14:creationId xmlns:p14="http://schemas.microsoft.com/office/powerpoint/2010/main" val="12442547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4EAA8EF-DA8E-4D3B-B4EC-DFDB0A12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A9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8AB80A7-6250-41C4-B952-5D40ECAE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7472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创新亮点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E70CF7B-9040-42E9-9A51-358F69DE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475488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300" b="1">
                <a:solidFill>
                  <a:srgbClr val="4A5A9E"/>
                </a:solidFill>
                <a:latin typeface="微软雅黑"/>
                <a:ea typeface="微软雅黑"/>
                <a:cs typeface="微软雅黑"/>
              </a:rPr>
              <a:t>做个决定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C2404EC-8A3C-468D-8E86-8C353DA4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960120"/>
            <a:ext cx="11155680" cy="14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73FD764-35AB-4E25-A62D-B66C38E1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7395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5 / 6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AB8E6A97-9F73-474D-A92D-B150BE2E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98448"/>
            <a:ext cx="10927080" cy="8229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71C2358-B932-45F5-A92F-D29F74FE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444752"/>
            <a:ext cx="10378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4A5A9E"/>
                </a:solidFill>
                <a:latin typeface="微软雅黑"/>
                <a:ea typeface="微软雅黑"/>
                <a:cs typeface="微软雅黑"/>
              </a:rPr>
              <a:t>「 6种趣味随机决策方式合一，Canvas转盘+多点触控指尖选择，选择困难终极解药。 」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03FFB20D-7661-4E46-96A0-6359D1FD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95728"/>
            <a:ext cx="603504" cy="8229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4A5A9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8E242BB-649B-4B63-A186-74098645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15184"/>
            <a:ext cx="60350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521544F9-0322-436D-9F60-930755B6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395728"/>
            <a:ext cx="6903720" cy="8229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895A5AE-355B-40FE-9518-B1E5263F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2395728"/>
            <a:ext cx="6400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指尖选择利用多点触控实现“大家一起按屏幕倒计时后随机选一人”，FingerSelectionMachine状态机保证交互稳定。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DDA26FC0-98C8-40E7-8ED6-905D4970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83280"/>
            <a:ext cx="603504" cy="8229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4A5A9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B05E73E-2BD6-4775-8265-8611D5C6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02736"/>
            <a:ext cx="60350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C83F2BB0-EBFB-4292-992B-6DA3D310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383280"/>
            <a:ext cx="6903720" cy="8229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F92265D-A4B0-401D-AFCC-AA9EC2B8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3383280"/>
            <a:ext cx="6400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状态机架构（WheelSession/DrawSession/SimpleDecisionState）驱动所有动画与逻辑，确保转盘落点与结果100%一致。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37DC1166-960A-4C53-9727-F31C15C8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370832"/>
            <a:ext cx="603504" cy="8229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4A5A9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0D4829F-3DFA-4B31-B031-D408BCED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90288"/>
            <a:ext cx="60350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D33C895A-EE7E-48C5-BC3F-5F5693B1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370832"/>
            <a:ext cx="6903720" cy="8229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5FF7814D-6BA1-4B14-93E5-C8A55A38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4370832"/>
            <a:ext cx="6400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DraftChangeDetector+OptionValidator实时校验用户输入，NumberValidator约束随机数范围，防止无效操作。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C4CA53B7-E376-4470-83AB-265C5EDF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68112"/>
            <a:ext cx="7589520" cy="566928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3F4FB"/>
          </a:solidFill>
          <a:ln xmlns:a="http://schemas.openxmlformats.org/drawingml/2006/main" w="9525">
            <a:solidFill>
              <a:srgbClr val="A9B4E6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161D6DF1-D35F-4AA4-98D3-3AA4F058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59552"/>
            <a:ext cx="7132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1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动画、反馈与统计均为真实功能，DevEco Studio 模拟器与真机上均可稳定复现。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E4894CB7-ED45-4E1A-8494-FDA01C68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1298448"/>
            <a:ext cx="2103120" cy="48463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31BDA03F-DF13-4685-8AED-32F48635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444752"/>
            <a:ext cx="1737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>
                <a:solidFill>
                  <a:srgbClr val="4A5A9E"/>
                </a:solidFill>
                <a:latin typeface="微软雅黑"/>
                <a:ea typeface="微软雅黑"/>
                <a:cs typeface="微软雅黑"/>
              </a:rPr>
              <a:t>实机验证</a:t>
            </a:r>
          </a:p>
        </p:txBody>
      </p:sp>
      <p:pic>
        <p:nvPicPr>
          <p:cNvPr id="52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905a9d637b47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38360" y="1810512"/>
            <a:ext cx="1737360" cy="3810096"/>
          </a:xfrm>
          <a:prstGeom xmlns:a="http://schemas.openxmlformats.org/drawingml/2006/main" prst="roundRect">
            <a:avLst>
              <a:gd name="adj" fmla="val 8772"/>
            </a:avLst>
          </a:prstGeom>
        </p:spPr>
      </p:pic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1D5687B3-8A61-4977-88AE-DAC2F764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5779008"/>
            <a:ext cx="1645920" cy="31089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4A5A9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4C89C2DA-D7F5-40CD-B21B-0249310E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5838444"/>
            <a:ext cx="16459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抛硬币·结果揭晓</a:t>
            </a:r>
          </a:p>
        </p:txBody>
      </p:sp>
    </p:spTree>
    <p:extLst>
      <p:ext uri="{BB962C8B-B14F-4D97-AF65-F5344CB8AC3E}">
        <p14:creationId xmlns:p14="http://schemas.microsoft.com/office/powerpoint/2010/main" val="196162880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4E5F88C-8837-4FF8-A550-079DCBF8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A9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43F7824-72A6-4486-9714-C03490C7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47472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应用价值与展望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A2A4240-DB69-421E-970F-9043D961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475488"/>
            <a:ext cx="2331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300" b="1">
                <a:solidFill>
                  <a:srgbClr val="4A5A9E"/>
                </a:solidFill>
                <a:latin typeface="微软雅黑"/>
                <a:ea typeface="微软雅黑"/>
                <a:cs typeface="微软雅黑"/>
              </a:rPr>
              <a:t>做个决定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752F102-3815-4662-9D40-37A3A38F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960120"/>
            <a:ext cx="11155680" cy="14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CF2C5EB-AA35-4BC6-9D67-762B428F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47395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6 / 6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6A141B84-C1BE-435C-BE05-D134D6E6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25880"/>
            <a:ext cx="5349240" cy="48006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06D4D1B-0E31-4C5A-B3BE-1682013E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655064"/>
            <a:ext cx="82296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A9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1F5F62A-0D75-443C-879F-71ED676B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1627632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4A5A9E"/>
                </a:solidFill>
                <a:latin typeface="微软雅黑"/>
                <a:ea typeface="微软雅黑"/>
                <a:cs typeface="微软雅黑"/>
              </a:rPr>
              <a:t>用户价值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0863935-B9D2-43B3-9C65-0E0AA7D1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2029968"/>
            <a:ext cx="4681728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几乎所有年轻人都有选择困难，覆盖聚会/团建/课堂互动多人场景，使用频次高传播性强。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B852203-0B78-4ED5-9FA3-291F6E92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54679"/>
            <a:ext cx="82296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A9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DB2148E-7CDB-4953-8EF5-AEB1842F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3127248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4A5A9E"/>
                </a:solidFill>
                <a:latin typeface="微软雅黑"/>
                <a:ea typeface="微软雅黑"/>
                <a:cs typeface="微软雅黑"/>
              </a:rPr>
              <a:t>用户反馈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5357C2F-EB25-44B9-A5B5-5ECD6CB3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3529584"/>
            <a:ext cx="4681728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6种方式合一解决“转个决定要装好几个APP”，指尖选择成为聚会热门工具自然传播。用户评价：好玩、适用。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306386E-E12C-480E-AD1F-F97183EF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654296"/>
            <a:ext cx="82296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A9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0EB1762-D861-4D71-9A4F-74A474B7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4626864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4A5A9E"/>
                </a:solidFill>
                <a:latin typeface="微软雅黑"/>
                <a:ea typeface="微软雅黑"/>
                <a:cs typeface="微软雅黑"/>
              </a:rPr>
              <a:t>商业前景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E5D9468-3836-4F11-BA4D-B93AF1A5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5029200"/>
            <a:ext cx="4681728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趣味主题皮肤、高级动画效果、自定义音效变现；指尖选择多人互动适合社交裂变推广。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27835611-9FAF-4FD1-8378-BAE61739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25880"/>
            <a:ext cx="3017520" cy="214884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14AFED2-86F6-4C5C-BF30-F306A749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481328"/>
            <a:ext cx="2606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4A5A9E"/>
                </a:solidFill>
                <a:latin typeface="微软雅黑"/>
                <a:ea typeface="微软雅黑"/>
                <a:cs typeface="微软雅黑"/>
              </a:rPr>
              <a:t>未来展望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BB6774C-AA50-48B8-952D-E17CDEF9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83664"/>
            <a:ext cx="2606040" cy="1481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内置模板数量还有限，将持续按节日与热点更新模板库。
我们将持续迭代体验、扩充内容生态，并借助鸿蒙多设备与AI能力升级产品。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01508C6C-6FDF-484F-929E-1C55994F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03320"/>
            <a:ext cx="3017520" cy="242316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45FA1E9-3579-41DF-9978-487E91EA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58768"/>
            <a:ext cx="2606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00" b="1">
                <a:solidFill>
                  <a:srgbClr val="4A5A9E"/>
                </a:solidFill>
                <a:latin typeface="微软雅黑"/>
                <a:ea typeface="微软雅黑"/>
                <a:cs typeface="微软雅黑"/>
              </a:rPr>
              <a:t>团队信息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479F5750-06FD-4367-9AB4-42106574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4325112"/>
            <a:ext cx="64008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A9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340CC01B-648C-43DE-8D11-7C2B09B0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242816"/>
            <a:ext cx="2514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常新队 · 队长：易荛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2FDD189D-4A24-44FB-90BF-DFCC0613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4718303"/>
            <a:ext cx="64008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A9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8A92BDFA-DD4A-428D-A08C-61EF00F2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636007"/>
            <a:ext cx="2514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湘潭理工学院 · 信息与计算科学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B6DB1A5-08DF-4A40-A85D-6A52A0D4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5111495"/>
            <a:ext cx="64008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A9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80539792-DDC5-429F-86C5-42525652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5029199"/>
            <a:ext cx="2514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指导老师：徐畅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91FDF16-EBA6-443B-AA2A-14F33716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5504687"/>
            <a:ext cx="64008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A9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00491CC5-9C0C-4410-8D5A-69A73C3D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5422391"/>
            <a:ext cx="2514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参赛时间：2026年8月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2871A8C6-665E-4A00-AB57-11233D17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5897879"/>
            <a:ext cx="64008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A9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8E5AD19B-6832-4179-9CC7-D127E217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5815583"/>
            <a:ext cx="2514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5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联系方式：13367425801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5565AB01-3919-4FFD-BD11-154235A9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325880"/>
            <a:ext cx="2057400" cy="48006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7C49A75E-8BFC-4424-8127-F0E69433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463040"/>
            <a:ext cx="187451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>
                <a:solidFill>
                  <a:srgbClr val="4A5A9E"/>
                </a:solidFill>
                <a:latin typeface="微软雅黑"/>
                <a:ea typeface="微软雅黑"/>
                <a:cs typeface="微软雅黑"/>
              </a:rPr>
              <a:t>界面一览</a:t>
            </a:r>
          </a:p>
        </p:txBody>
      </p:sp>
      <p:pic>
        <p:nvPicPr>
          <p:cNvPr id="71" name="Picture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5bff0a026349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06940" y="1810512"/>
            <a:ext cx="1737360" cy="3810096"/>
          </a:xfrm>
          <a:prstGeom xmlns:a="http://schemas.openxmlformats.org/drawingml/2006/main" prst="roundRect">
            <a:avLst>
              <a:gd name="adj" fmla="val 8772"/>
            </a:avLst>
          </a:prstGeom>
        </p:spPr>
      </p:pic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A23D455C-E7E8-4D57-9A4C-5FCA9AC4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5650992"/>
            <a:ext cx="1737360" cy="310896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4A5A9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ED086B31-BC87-4111-9591-B867E775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5710428"/>
            <a:ext cx="17373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幸运转盘·自定义选项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4EF2722D-9656-44F7-A6A2-E82848CC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473952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做个决定 · 参赛作品简介</a:t>
            </a:r>
          </a:p>
        </p:txBody>
      </p:sp>
    </p:spTree>
    <p:extLst>
      <p:ext uri="{BB962C8B-B14F-4D97-AF65-F5344CB8AC3E}">
        <p14:creationId xmlns:p14="http://schemas.microsoft.com/office/powerpoint/2010/main" val="125757861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2026-08-21T02:52:16.7430000Z</dcterms:created>
  <dcterms:modified xsi:type="dcterms:W3CDTF">2026-08-21T02:52:16.7430000Z</dcterms:modified>
</coreProperties>
</file>